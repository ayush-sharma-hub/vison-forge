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  <a:latin typeface="Arial"/>
              </a:defRPr>
            </a:pPr>
            <a:r>
              <a:t>AUTONOMOUS AGENTIC HARDWARE ARCHITECT</a:t>
            </a:r>
          </a:p>
          <a:p>
            <a:pPr>
              <a:defRPr sz="4600" b="1">
                <a:solidFill>
                  <a:srgbClr val="F8FAFC"/>
                </a:solidFill>
                <a:latin typeface="Arial"/>
              </a:defRPr>
            </a:pPr>
            <a:r>
              <a:t>VISION (Vison Forge)</a:t>
            </a:r>
          </a:p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Turning low-voltage maker concepts into safe, deterministic build-packs with live-catalog component pricing (₹ INR).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474720"/>
            <a:ext cx="2468880" cy="219456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2194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855F7"/>
                </a:solidFill>
                <a:latin typeface="Arial"/>
              </a:defRPr>
            </a:pPr>
            <a:r>
              <a:t>TEAM LEAD · AGENT CORE</a:t>
            </a:r>
          </a:p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Sunil Kumar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uAgents, ACP Mailbox, ASI:One &amp; Submission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3474720"/>
            <a:ext cx="2468880" cy="219456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3657600"/>
            <a:ext cx="2194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F2FE"/>
                </a:solidFill>
                <a:latin typeface="Arial"/>
              </a:defRPr>
            </a:pPr>
            <a:r>
              <a:t>TOOLS &amp; LOGIC ENGINEER</a:t>
            </a:r>
          </a:p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Ayush Sharma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Quartz Live API, Safety Rules, Edge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474720"/>
            <a:ext cx="2468880" cy="219456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3657600"/>
            <a:ext cx="2194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PRESENTATION &amp; PITCH LEAD</a:t>
            </a:r>
          </a:p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Rajnish Raj Shekhar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3D PPT Deck, 3-Min Pitch, Storyline &amp; Q&amp;A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3474720"/>
            <a:ext cx="2468880" cy="219456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3657600"/>
            <a:ext cx="2194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Arial"/>
              </a:defRPr>
            </a:pPr>
            <a:r>
              <a:t>DEMO &amp; DOCUMENTATION LEAD</a:t>
            </a:r>
          </a:p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Kamal Kumar Sharma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README, Terminal Demos, Video Script &amp; Media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F2FE"/>
                </a:solidFill>
                <a:latin typeface="Arial"/>
              </a:defRPr>
            </a:pPr>
            <a:r>
              <a:t>⚡ Built on Fetch.ai uAgents Protocol  |  ASI:One Ready  |  Zero Hallucination Hardware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Hardware Prototyping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Why 65%+ of student and hackathon robotics builds fail before their first test: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393192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283464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CRITICAL BOTTLENECK 01</a:t>
            </a:r>
          </a:p>
          <a:p>
            <a:pPr>
              <a:defRPr sz="1800" b="1">
                <a:solidFill>
                  <a:srgbClr val="F8FAFC"/>
                </a:solidFill>
                <a:latin typeface="Arial"/>
              </a:defRPr>
            </a:pPr>
            <a:r>
              <a:t>High-Voltage Catastrophes</a:t>
            </a:r>
          </a:p>
          <a:p>
            <a:br/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Beginners inadvertently connect 220V AC mains or high-discharge LiPos to 3.3V/5V logic, frying microcontrollers, triggering smoke, or risking electrical fire.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91840" cy="393192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377440"/>
            <a:ext cx="283464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CRITICAL BOTTLENECK 02</a:t>
            </a:r>
          </a:p>
          <a:p>
            <a:pPr>
              <a:defRPr sz="1800" b="1">
                <a:solidFill>
                  <a:srgbClr val="F8FAFC"/>
                </a:solidFill>
                <a:latin typeface="Arial"/>
              </a:defRPr>
            </a:pPr>
            <a:r>
              <a:t>Phantom &amp; Hallucinated Pricing</a:t>
            </a:r>
          </a:p>
          <a:p>
            <a:br/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Standard LLMs (ChatGPT, Claude) fabricate prices from obsolete foreign blogs. Teams budget ₹1,000 only to find parts cost ₹3,500 locally or are completely out of stock.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291840" cy="393192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377440"/>
            <a:ext cx="283464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CRITICAL BOTTLENECK 03</a:t>
            </a:r>
          </a:p>
          <a:p>
            <a:pPr>
              <a:defRPr sz="1800" b="1">
                <a:solidFill>
                  <a:srgbClr val="F8FAFC"/>
                </a:solidFill>
                <a:latin typeface="Arial"/>
              </a:defRPr>
            </a:pPr>
            <a:r>
              <a:t>Pin &amp; Logic Mismatches</a:t>
            </a:r>
          </a:p>
          <a:p>
            <a:br/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Conflicting I2C addresses, unlevel-shifted 5V sensors connected to 3.3V ESP32 GPIOs, and missing pull-ups cause days of frustrating debugging.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02 ·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Vison Forge: Deterministic Agentic Hardware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An autonomous AI agent that generates build-ready hardware packs backed by verified real-world data: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393192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283464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AGENT PILLAR 01</a:t>
            </a:r>
          </a:p>
          <a:p>
            <a:pPr>
              <a:defRPr sz="1800" b="1">
                <a:solidFill>
                  <a:srgbClr val="F8FAFC"/>
                </a:solidFill>
                <a:latin typeface="Arial"/>
              </a:defRPr>
            </a:pPr>
            <a:r>
              <a:t>Deterministic Safety Gate</a:t>
            </a:r>
          </a:p>
          <a:p>
            <a:br/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Hard-coded electrical safety rules automatically catch mains AC, unisolated relays, and dangerous battery chemistries—redirecting builders to low-voltage alternatives.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91840" cy="393192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377440"/>
            <a:ext cx="283464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AGENT PILLAR 02</a:t>
            </a:r>
          </a:p>
          <a:p>
            <a:pPr>
              <a:defRPr sz="1800" b="1">
                <a:solidFill>
                  <a:srgbClr val="F8FAFC"/>
                </a:solidFill>
                <a:latin typeface="Arial"/>
              </a:defRPr>
            </a:pPr>
            <a:r>
              <a:t>Live Retailer Tool (₹ INR)</a:t>
            </a:r>
          </a:p>
          <a:p>
            <a:br/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Direct live catalog integration with Quartz Components (Indian electronics distributor). Retrieves verified item prices, stock flags, timestamps, and calculates transparent project totals.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291840" cy="393192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377440"/>
            <a:ext cx="283464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AGENT PILLAR 03</a:t>
            </a:r>
          </a:p>
          <a:p>
            <a:pPr>
              <a:defRPr sz="1800" b="1">
                <a:solidFill>
                  <a:srgbClr val="F8FAFC"/>
                </a:solidFill>
                <a:latin typeface="Arial"/>
              </a:defRPr>
            </a:pPr>
            <a:r>
              <a:t>Complete Build-Pack Synthesis</a:t>
            </a:r>
          </a:p>
          <a:p>
            <a:br/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Autonomously outputs PROJECT_PLAN.md, BOM.csv with direct purchase links, WIRING.md with GPIO pin assignments, and TEST_PLAN.md mapped to team member count.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03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Fetch.ai uAgents Protocol &amp; Tool Execution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End-to-end data pipeline connecting conversational intent to live hardware procurement: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920240" cy="292608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16459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1. User Intent</a:t>
            </a:r>
          </a:p>
          <a:p>
            <a:br/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ASI:One Chat / CLI</a:t>
            </a:r>
            <a:br/>
            <a:r>
              <a:t>Natural language specs:</a:t>
            </a:r>
            <a:br/>
            <a:r>
              <a:t>Board, sensors, budget,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194560"/>
            <a:ext cx="1920240" cy="292608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423160"/>
            <a:ext cx="16459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2FE"/>
                </a:solidFill>
                <a:latin typeface="Arial"/>
              </a:defRPr>
            </a:pPr>
            <a:r>
              <a:t>2. ACP Ingress</a:t>
            </a:r>
          </a:p>
          <a:p>
            <a:br/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agent.py uAgent</a:t>
            </a:r>
            <a:br/>
            <a:r>
              <a:t>Chat Protocol Spec</a:t>
            </a:r>
            <a:br/>
            <a:r>
              <a:t>Asyncio ThreadPoolExecutor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194560"/>
            <a:ext cx="1920240" cy="292608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2423160"/>
            <a:ext cx="16459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3. Safety Gate</a:t>
            </a:r>
          </a:p>
          <a:p>
            <a:br/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vison/forge.py</a:t>
            </a:r>
            <a:br/>
            <a:r>
              <a:t>AC voltage checks</a:t>
            </a:r>
            <a:br/>
            <a:r>
              <a:t>Battery discharge limits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194560"/>
            <a:ext cx="1920240" cy="292608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2423160"/>
            <a:ext cx="16459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Arial"/>
              </a:defRPr>
            </a:pPr>
            <a:r>
              <a:t>4. Live Tool</a:t>
            </a:r>
          </a:p>
          <a:p>
            <a:br/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vison/retailer.py</a:t>
            </a:r>
            <a:br/>
            <a:r>
              <a:t>Quartz Components API</a:t>
            </a:r>
            <a:br/>
            <a:r>
              <a:t>Real INR prices &amp; stock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2194560"/>
            <a:ext cx="1920240" cy="292608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2423160"/>
            <a:ext cx="16459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855F7"/>
                </a:solidFill>
                <a:latin typeface="Arial"/>
              </a:defRPr>
            </a:pPr>
            <a:r>
              <a:t>5. Build Pack</a:t>
            </a:r>
          </a:p>
          <a:p>
            <a:br/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Artifact Generator</a:t>
            </a:r>
            <a:br/>
            <a:r>
              <a:t>BOM.csv, WIRING.md,</a:t>
            </a:r>
            <a:br/>
            <a:r>
              <a:t>PLAN.md &amp; TEST_PLAN.md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41C2D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F2FE"/>
                </a:solidFill>
                <a:latin typeface="Arial"/>
              </a:defRPr>
            </a:pPr>
            <a:r>
              <a:t>🔒 Ethical Agent Policy: Strictly informational. Never touches payment cards or places orders. Strictly adheres to robots.txt and published agents.md guidelines.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04 · EXECUTION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Live Run: Automated ESP32 Plant Irrigation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Validated execution on prompt: 'ESP32 plant watering system for 2 plants under ₹2500 in 7 days'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669280" cy="4206240"/>
          </a:xfrm>
          <a:prstGeom prst="rect">
            <a:avLst/>
          </a:prstGeom>
          <a:solidFill>
            <a:srgbClr val="05070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53035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Consolas"/>
              </a:defRPr>
            </a:pPr>
            <a:r>
              <a:t>// VERIFIED EXECUTION OUTPUT</a:t>
            </a:r>
            <a:br/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&gt; Request parsed: Microcontroller=ESP32, Plants=2, Budget=₹2,500, Team=2</a:t>
            </a:r>
            <a:br/>
            <a:r>
              <a:t>&gt; Safety Gate: PASS (Safe low voltage 5V/3.3V DC)</a:t>
            </a:r>
            <a:br/>
            <a:r>
              <a:t>&gt; Retailer Adapter: Querying Quartz Components catalog...</a:t>
            </a:r>
            <a:br/>
            <a:r>
              <a:t>&gt; Match found: ESP32 NodeMCU, 5V Relay, Capacitive Probes, 5V Mini Pump</a:t>
            </a:r>
            <a:br/>
            <a:r>
              <a:t>&gt; Verified Pricing Tiers Calculated:</a:t>
            </a:r>
            <a:br/>
            <a:r>
              <a:t>   • Basic Tier:       ₹845  (Direct GPIO / 1 Pump)</a:t>
            </a:r>
            <a:br/>
            <a:r>
              <a:t>   • Recommended Tier: ₹1,420 (Dual Relays + ESP32 CP2102)</a:t>
            </a:r>
            <a:br/>
            <a:r>
              <a:t>   • Premium Tier:     ₹2,190 (Solar shield + Industrial probe)</a:t>
            </a:r>
            <a:br/>
            <a:r>
              <a:t>&gt; Generated: BOM.csv, WIRING.md, PROJECT_PLAN.md, TEST_PLAN.md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011680"/>
            <a:ext cx="4754880" cy="4206240"/>
          </a:xfrm>
          <a:prstGeom prst="roundRect">
            <a:avLst/>
          </a:prstGeom>
          <a:solidFill>
            <a:srgbClr val="141C2D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103120"/>
            <a:ext cx="43891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855F7"/>
                </a:solidFill>
                <a:latin typeface="Arial"/>
              </a:defRPr>
            </a:pPr>
            <a:r>
              <a:t>GENERATED ARTIFACTS PACK</a:t>
            </a:r>
          </a:p>
          <a:p>
            <a:br/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• BOM.csv:</a:t>
            </a:r>
            <a:br/>
            <a:r>
              <a:t>  Item name, Quartz URL, stock status, and ₹ observed cost.</a:t>
            </a:r>
            <a:br/>
            <a:br/>
            <a:r>
              <a:t>• WIRING.md:</a:t>
            </a:r>
            <a:br/>
            <a:r>
              <a:t>  Exact pin table: D32 (Sensor 1), D33 (Sensor 2), D22 (Relay 1), D21 (Relay 2).</a:t>
            </a:r>
            <a:br/>
            <a:br/>
            <a:r>
              <a:t>• PROJECT_PLAN.md:</a:t>
            </a:r>
            <a:br/>
            <a:r>
              <a:t>  7-day sprint plan distributed evenly between Team Member 1 &amp; 2.</a:t>
            </a:r>
            <a:br/>
            <a:br/>
            <a:r>
              <a:t>• TEST_PLAN.md:</a:t>
            </a:r>
            <a:br/>
            <a:r>
              <a:t>  Dry bench tests, sensor calibration, pump current checks, WiFi failover.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05 · TEAM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Engineering Division of Labor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Four specialized roles covering protocol, logic, presentation, and quality assurance: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468880" cy="411480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1945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855F7"/>
                </a:solidFill>
                <a:latin typeface="Arial"/>
              </a:defRPr>
            </a:pPr>
            <a:r>
              <a:t>TEAM LEAD · AGENT CORE</a:t>
            </a:r>
          </a:p>
          <a:p>
            <a:pPr>
              <a:defRPr sz="1700" b="1">
                <a:solidFill>
                  <a:srgbClr val="F8FAFC"/>
                </a:solidFill>
                <a:latin typeface="Arial"/>
              </a:defRPr>
            </a:pPr>
            <a:r>
              <a:t>Sunil Kumar</a:t>
            </a:r>
          </a:p>
          <a:p>
            <a:br/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GitHub repo &amp; CI setup</a:t>
            </a:r>
            <a:br/>
            <a:r>
              <a:t>• agent.py ACP implementation</a:t>
            </a:r>
            <a:br/>
            <a:r>
              <a:t>• Agentverse mailbox connector</a:t>
            </a:r>
            <a:br/>
            <a:r>
              <a:t>• ASI:One live chat test</a:t>
            </a:r>
            <a:br/>
            <a:r>
              <a:t>• Final platform submission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103120"/>
            <a:ext cx="2468880" cy="411480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377440"/>
            <a:ext cx="21945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F2FE"/>
                </a:solidFill>
                <a:latin typeface="Arial"/>
              </a:defRPr>
            </a:pPr>
            <a:r>
              <a:t>TOOLS &amp; LOGIC ENGINEER</a:t>
            </a:r>
          </a:p>
          <a:p>
            <a:pPr>
              <a:defRPr sz="1700" b="1">
                <a:solidFill>
                  <a:srgbClr val="F8FAFC"/>
                </a:solidFill>
                <a:latin typeface="Arial"/>
              </a:defRPr>
            </a:pPr>
            <a:r>
              <a:t>Ayush Sharma</a:t>
            </a:r>
          </a:p>
          <a:p>
            <a:br/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Quartz live API scraping</a:t>
            </a:r>
            <a:br/>
            <a:r>
              <a:t>• Safety gate rules (forge.py)</a:t>
            </a:r>
            <a:br/>
            <a:r>
              <a:t>• Price tier math &amp; INR logic</a:t>
            </a:r>
            <a:br/>
            <a:r>
              <a:t>• test_retailer.py unit suite</a:t>
            </a:r>
            <a:br/>
            <a:r>
              <a:t>• Multi-agent ACP handoffs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2468880" cy="411480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377440"/>
            <a:ext cx="21945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PRESENTATION &amp; PITCH LEAD</a:t>
            </a:r>
          </a:p>
          <a:p>
            <a:pPr>
              <a:defRPr sz="1700" b="1">
                <a:solidFill>
                  <a:srgbClr val="F8FAFC"/>
                </a:solidFill>
                <a:latin typeface="Arial"/>
              </a:defRPr>
            </a:pPr>
            <a:r>
              <a:t>Rajnish Raj Shekhar</a:t>
            </a:r>
          </a:p>
          <a:p>
            <a:br/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PPT Deck &amp; 3D visual styling</a:t>
            </a:r>
            <a:br/>
            <a:r>
              <a:t>• 3-Minute pitch speech script</a:t>
            </a:r>
            <a:br/>
            <a:r>
              <a:t>• Problem &amp; solution alignment</a:t>
            </a:r>
            <a:br/>
            <a:r>
              <a:t>• Market differentiator analysis</a:t>
            </a:r>
            <a:br/>
            <a:r>
              <a:t>• Live judge pitch &amp; delivery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103120"/>
            <a:ext cx="2468880" cy="411480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2377440"/>
            <a:ext cx="21945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Arial"/>
              </a:defRPr>
            </a:pPr>
            <a:r>
              <a:t>DEMO &amp; DOCUMENTATION LEAD</a:t>
            </a:r>
          </a:p>
          <a:p>
            <a:pPr>
              <a:defRPr sz="1700" b="1">
                <a:solidFill>
                  <a:srgbClr val="F8FAFC"/>
                </a:solidFill>
                <a:latin typeface="Arial"/>
              </a:defRPr>
            </a:pPr>
            <a:r>
              <a:t>Kamal Kumar Sharma</a:t>
            </a:r>
          </a:p>
          <a:p>
            <a:br/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Comprehensive README.md</a:t>
            </a:r>
            <a:br/>
            <a:r>
              <a:t>• Architecture flowcharts &amp; visual assets</a:t>
            </a:r>
            <a:br/>
            <a:r>
              <a:t>• Demo video recording &amp; audio script</a:t>
            </a:r>
            <a:br/>
            <a:r>
              <a:t>• Terminal screenshots</a:t>
            </a:r>
            <a:br/>
            <a:r>
              <a:t>• Judge Q&amp;A playbook prep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06 · THE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Why VISION Wins &amp; Strategic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Evolving from a planning agent into an end-to-end autonomous hardware co-pilot: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393192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283464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MILESTONE 01</a:t>
            </a:r>
          </a:p>
          <a:p>
            <a:pPr>
              <a:defRPr sz="1700" b="1">
                <a:solidFill>
                  <a:srgbClr val="F8FAFC"/>
                </a:solidFill>
                <a:latin typeface="Arial"/>
              </a:defRPr>
            </a:pPr>
            <a:r>
              <a:t>Phase 1: Validated MVP (Live Today)</a:t>
            </a:r>
          </a:p>
          <a:p>
            <a:br/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• Fetch.ai uAgent with ACP protocol</a:t>
            </a:r>
            <a:br/>
            <a:r>
              <a:t>• Real INR pricing via Quartz live API</a:t>
            </a:r>
            <a:br/>
            <a:r>
              <a:t>• Zero hallucination safety gate</a:t>
            </a:r>
            <a:br/>
            <a:r>
              <a:t>• Complete downloadable build-packs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91840" cy="393192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377440"/>
            <a:ext cx="283464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MILESTONE 02</a:t>
            </a:r>
          </a:p>
          <a:p>
            <a:pPr>
              <a:defRPr sz="1700" b="1">
                <a:solidFill>
                  <a:srgbClr val="F8FAFC"/>
                </a:solidFill>
                <a:latin typeface="Arial"/>
              </a:defRPr>
            </a:pPr>
            <a:r>
              <a:t>Phase 2: Vision Breadboard Inspector</a:t>
            </a:r>
          </a:p>
          <a:p>
            <a:br/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• Take a smartphone photo of the circuit</a:t>
            </a:r>
            <a:br/>
            <a:r>
              <a:t>• Multimodal AI compares physical jumper wires against WIRING.md before powering on</a:t>
            </a:r>
            <a:br/>
            <a:r>
              <a:t>• Prevents burnt components in real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291840" cy="3931920"/>
          </a:xfrm>
          <a:prstGeom prst="roundRect">
            <a:avLst/>
          </a:prstGeom>
          <a:solidFill>
            <a:srgbClr val="141C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377440"/>
            <a:ext cx="283464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MILESTONE 03</a:t>
            </a:r>
          </a:p>
          <a:p>
            <a:pPr>
              <a:defRPr sz="1700" b="1">
                <a:solidFill>
                  <a:srgbClr val="F8FAFC"/>
                </a:solidFill>
                <a:latin typeface="Arial"/>
              </a:defRPr>
            </a:pPr>
            <a:r>
              <a:t>Phase 3: Multi-Agent Procurement</a:t>
            </a:r>
          </a:p>
          <a:p>
            <a:br/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• Sourcing Agent + Schematic Verification Agent</a:t>
            </a:r>
            <a:br/>
            <a:r>
              <a:t>• Autonomous cross-store price comparison across Indian distributors</a:t>
            </a:r>
            <a:br/>
            <a:r>
              <a:t>• Direct KiCad schematic &amp; PCB Gerber generation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